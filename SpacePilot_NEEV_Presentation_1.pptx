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70" r:id="rId8"/>
    <p:sldId id="263" r:id="rId9"/>
    <p:sldId id="262" r:id="rId10"/>
    <p:sldId id="264" r:id="rId11"/>
    <p:sldId id="265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658368"/>
            <a:ext cx="4572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NEEV  /  STARTUP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07008"/>
            <a:ext cx="6035040" cy="17373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5F8FC"/>
                </a:solidFill>
                <a:latin typeface="Aptos"/>
              </a:rPr>
              <a:t>SPACE
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96584"/>
            <a:ext cx="594360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dirty="0">
                <a:solidFill>
                  <a:srgbClr val="4DDBEB"/>
                </a:solidFill>
                <a:latin typeface="Aptos"/>
              </a:rPr>
              <a:t>Intelligence for every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572277"/>
            <a:ext cx="6035040" cy="115416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b="0" dirty="0">
                <a:solidFill>
                  <a:srgbClr val="ADBED2"/>
                </a:solidFill>
                <a:latin typeface="Aptos"/>
              </a:rPr>
              <a:t>A compact device that </a:t>
            </a:r>
            <a:r>
              <a:rPr lang="en-US" b="0" dirty="0">
                <a:solidFill>
                  <a:srgbClr val="ADBED2"/>
                </a:solidFill>
                <a:latin typeface="Aptos"/>
              </a:rPr>
              <a:t>controls electricity or electrical appliances based on </a:t>
            </a:r>
            <a:r>
              <a:rPr lang="en-US" dirty="0">
                <a:solidFill>
                  <a:srgbClr val="ADBED2"/>
                </a:solidFill>
                <a:latin typeface="Aptos"/>
              </a:rPr>
              <a:t>the presence of person in a room </a:t>
            </a:r>
            <a:r>
              <a:rPr b="0" dirty="0">
                <a:solidFill>
                  <a:srgbClr val="ADBED2"/>
                </a:solidFill>
                <a:latin typeface="Aptos"/>
              </a:rPr>
              <a:t> </a:t>
            </a:r>
            <a:r>
              <a:rPr lang="en-US" b="0" dirty="0">
                <a:solidFill>
                  <a:srgbClr val="ADBED2"/>
                </a:solidFill>
                <a:latin typeface="Aptos"/>
              </a:rPr>
              <a:t>and</a:t>
            </a:r>
            <a:r>
              <a:rPr b="0" dirty="0">
                <a:solidFill>
                  <a:srgbClr val="ADBED2"/>
                </a:solidFill>
                <a:latin typeface="Aptos"/>
              </a:rPr>
              <a:t> switches connected room equipment ON or OFF—without Wi-Fi.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280160"/>
            <a:ext cx="2651760" cy="3840480"/>
          </a:xfrm>
          <a:prstGeom prst="rect">
            <a:avLst/>
          </a:prstGeom>
          <a:solidFill>
            <a:srgbClr val="12233D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38160" y="1691640"/>
            <a:ext cx="1828800" cy="3429000"/>
          </a:xfrm>
          <a:prstGeom prst="rect">
            <a:avLst/>
          </a:prstGeom>
          <a:solidFill>
            <a:srgbClr val="0C172B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8275320" y="2194560"/>
            <a:ext cx="1554480" cy="0"/>
          </a:xfrm>
          <a:prstGeom prst="line">
            <a:avLst/>
          </a:prstGeom>
          <a:ln w="25400">
            <a:solidFill>
              <a:srgbClr val="4DD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75320" y="2606040"/>
            <a:ext cx="1554480" cy="0"/>
          </a:xfrm>
          <a:prstGeom prst="line">
            <a:avLst/>
          </a:prstGeom>
          <a:ln w="25400">
            <a:solidFill>
              <a:srgbClr val="39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887968" y="3154680"/>
            <a:ext cx="384048" cy="384048"/>
          </a:xfrm>
          <a:prstGeom prst="ellipse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5486400"/>
            <a:ext cx="3749039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SENSE  •  COUNT  •  SWITCH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6087794"/>
            <a:ext cx="4389120" cy="353943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050" b="0" dirty="0">
                <a:solidFill>
                  <a:srgbClr val="ADBED2"/>
                </a:solidFill>
                <a:latin typeface="Aptos"/>
              </a:rPr>
              <a:t>Presented by: </a:t>
            </a:r>
            <a:r>
              <a:rPr lang="en-US" sz="1050" b="0" u="sng" dirty="0">
                <a:solidFill>
                  <a:srgbClr val="ADBED2"/>
                </a:solidFill>
                <a:latin typeface="Aptos"/>
              </a:rPr>
              <a:t>__</a:t>
            </a:r>
            <a:r>
              <a:rPr lang="en-US" sz="2000" b="1" dirty="0">
                <a:solidFill>
                  <a:srgbClr val="ADBED2"/>
                </a:solidFill>
                <a:latin typeface="Gabriola" panose="04040605051002020D02" pitchFamily="82" charset="0"/>
                <a:cs typeface="Centaur Now Caption" panose="020F0502020204030204" pitchFamily="2" charset="0"/>
              </a:rPr>
              <a:t>Team Nova </a:t>
            </a:r>
            <a:r>
              <a:rPr lang="en-US" sz="1050" u="sng" dirty="0">
                <a:solidFill>
                  <a:srgbClr val="ADBED2"/>
                </a:solidFill>
                <a:latin typeface="Aptos"/>
              </a:rPr>
              <a:t>__</a:t>
            </a:r>
            <a:endParaRPr sz="1050" u="sng" dirty="0">
              <a:solidFill>
                <a:srgbClr val="ADBED2"/>
              </a:solidFill>
              <a:latin typeface="Aptos Black" panose="020B00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3152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972800" cy="53035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A room's occupancy changes. Its systems need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789920" cy="3931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A room can be busy, empty, then busy again throughout the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64792"/>
            <a:ext cx="640080" cy="36576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D2"/>
                </a:solidFill>
                <a:latin typeface="Aptos"/>
              </a:rPr>
              <a:t>SPACEPILOT  •  NEEV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572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EXAMPLE: A CLASSROOM DURING THE DAY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578608"/>
            <a:ext cx="201168" cy="201168"/>
          </a:xfrm>
          <a:prstGeom prst="ellipse">
            <a:avLst/>
          </a:prstGeom>
          <a:solidFill>
            <a:srgbClr val="39C4B8"/>
          </a:solidFill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024128" y="2679192"/>
            <a:ext cx="2560320" cy="0"/>
          </a:xfrm>
          <a:prstGeom prst="line">
            <a:avLst/>
          </a:prstGeom>
          <a:ln w="2540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" y="2926080"/>
            <a:ext cx="12801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08:00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246120"/>
            <a:ext cx="219456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C"/>
                </a:solidFill>
                <a:latin typeface="Aptos"/>
              </a:rPr>
              <a:t>Class begins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11880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Occupied</a:t>
            </a:r>
          </a:p>
        </p:txBody>
      </p:sp>
      <p:sp>
        <p:nvSpPr>
          <p:cNvPr id="14" name="Oval 13"/>
          <p:cNvSpPr/>
          <p:nvPr/>
        </p:nvSpPr>
        <p:spPr>
          <a:xfrm>
            <a:off x="3611879" y="2578608"/>
            <a:ext cx="201168" cy="201168"/>
          </a:xfrm>
          <a:prstGeom prst="ellipse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3813048" y="2679192"/>
            <a:ext cx="2560320" cy="0"/>
          </a:xfrm>
          <a:prstGeom prst="line">
            <a:avLst/>
          </a:prstGeom>
          <a:ln w="2540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93591" y="2926080"/>
            <a:ext cx="12801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10:00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1" y="3246120"/>
            <a:ext cx="219456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C"/>
                </a:solidFill>
                <a:latin typeface="Aptos"/>
              </a:rPr>
              <a:t>Break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1" y="3611880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May be empty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578608"/>
            <a:ext cx="201168" cy="201168"/>
          </a:xfrm>
          <a:prstGeom prst="ellipse">
            <a:avLst/>
          </a:prstGeom>
          <a:solidFill>
            <a:srgbClr val="39C4B8"/>
          </a:solidFill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6601968" y="2679192"/>
            <a:ext cx="2560320" cy="0"/>
          </a:xfrm>
          <a:prstGeom prst="line">
            <a:avLst/>
          </a:prstGeom>
          <a:ln w="2540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82512" y="2926080"/>
            <a:ext cx="12801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10:15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246120"/>
            <a:ext cx="219456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C"/>
                </a:solidFill>
                <a:latin typeface="Aptos"/>
              </a:rPr>
              <a:t>Next lesson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611880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Occupied</a:t>
            </a:r>
          </a:p>
        </p:txBody>
      </p:sp>
      <p:sp>
        <p:nvSpPr>
          <p:cNvPr id="24" name="Oval 23"/>
          <p:cNvSpPr/>
          <p:nvPr/>
        </p:nvSpPr>
        <p:spPr>
          <a:xfrm>
            <a:off x="9189719" y="2578608"/>
            <a:ext cx="201168" cy="201168"/>
          </a:xfrm>
          <a:prstGeom prst="ellipse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1432" y="2926080"/>
            <a:ext cx="12801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15:00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246120"/>
            <a:ext cx="219456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C"/>
                </a:solidFill>
                <a:latin typeface="Aptos"/>
              </a:rPr>
              <a:t>School 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611880"/>
            <a:ext cx="22860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Empty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4251960"/>
            <a:ext cx="5074920" cy="132588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9264" y="4434840"/>
            <a:ext cx="45720" cy="960119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52144" y="4434840"/>
            <a:ext cx="457200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The management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4873752"/>
            <a:ext cx="4562856" cy="59435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People may need to notice when a space changes from occupied to empty and act accordingly.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251960"/>
            <a:ext cx="5074920" cy="132588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36792" y="4434840"/>
            <a:ext cx="45720" cy="960119"/>
          </a:xfrm>
          <a:prstGeom prst="rect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9672" y="4434840"/>
            <a:ext cx="457200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The opportunity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4873752"/>
            <a:ext cx="4562856" cy="59435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Could a room provide a reliable occupancy signal and use it to manage selected systems consistently?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315200" cy="200055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4DDBEB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4DDBEB"/>
                </a:solidFill>
                <a:latin typeface="Aptos"/>
              </a:rPr>
              <a:t>2</a:t>
            </a:r>
            <a:r>
              <a:rPr sz="1000" b="1" dirty="0">
                <a:solidFill>
                  <a:srgbClr val="4DDBEB"/>
                </a:solidFill>
                <a:latin typeface="Aptos"/>
              </a:rPr>
              <a:t> / EXAMPLE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972800" cy="53035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SpacePilot in a coaching-centre classroom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789920" cy="3931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This example shows how SpacePilot switches a connected light or fan based on estimated room occupancy.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64792"/>
            <a:ext cx="640080" cy="36576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D2"/>
                </a:solidFill>
                <a:latin typeface="Aptos"/>
              </a:rPr>
              <a:t>SPACEPILOT  •  NEEV PROJECT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148839"/>
            <a:ext cx="320040" cy="320040"/>
          </a:xfrm>
          <a:prstGeom prst="ellipse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074420" y="2468879"/>
            <a:ext cx="0" cy="548641"/>
          </a:xfrm>
          <a:prstGeom prst="line">
            <a:avLst/>
          </a:prstGeom>
          <a:ln w="2540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08760" y="2103120"/>
            <a:ext cx="2286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BE5B"/>
                </a:solidFill>
                <a:latin typeface="Aptos"/>
              </a:rPr>
              <a:t>BEFORE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084831"/>
            <a:ext cx="7040880" cy="4572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Room is empty. Estimated count is 0; the connected load is OFF.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008375"/>
            <a:ext cx="320040" cy="320040"/>
          </a:xfrm>
          <a:prstGeom prst="ellipse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074420" y="3328415"/>
            <a:ext cx="0" cy="548641"/>
          </a:xfrm>
          <a:prstGeom prst="line">
            <a:avLst/>
          </a:prstGeom>
          <a:ln w="2540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08760" y="2962656"/>
            <a:ext cx="2286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DDBEB"/>
                </a:solidFill>
                <a:latin typeface="Aptos"/>
              </a:rPr>
              <a:t>STUDENTS 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44368"/>
            <a:ext cx="7040880" cy="4572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The doorway sensors detect entry and update the count; the first entry switches the load ON.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867911"/>
            <a:ext cx="320040" cy="320040"/>
          </a:xfrm>
          <a:prstGeom prst="ellipse">
            <a:avLst/>
          </a:prstGeom>
          <a:solidFill>
            <a:srgbClr val="39C4B8"/>
          </a:solidFill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1074420" y="4187952"/>
            <a:ext cx="0" cy="548640"/>
          </a:xfrm>
          <a:prstGeom prst="line">
            <a:avLst/>
          </a:prstGeom>
          <a:ln w="2540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08760" y="3822191"/>
            <a:ext cx="2286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9C4B8"/>
                </a:solidFill>
                <a:latin typeface="Aptos"/>
              </a:rPr>
              <a:t>CLASS IN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803904"/>
            <a:ext cx="7040880" cy="4572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As long as the estimated count stays above zero, the connected load remains ON.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727447"/>
            <a:ext cx="320040" cy="320040"/>
          </a:xfrm>
          <a:prstGeom prst="ellipse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08760" y="4681727"/>
            <a:ext cx="2286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BE5B"/>
                </a:solidFill>
                <a:latin typeface="Aptos"/>
              </a:rPr>
              <a:t>EVERYONE LEAVES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63440"/>
            <a:ext cx="7040880" cy="4572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When the count returns to zero, the controller waits briefly, then switches the load OFF.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623560"/>
            <a:ext cx="10241280" cy="530352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78992" y="5806440"/>
            <a:ext cx="45720" cy="164591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61872" y="5806440"/>
            <a:ext cx="9738359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Core idea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6245352"/>
            <a:ext cx="9729215" cy="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DBED2"/>
                </a:solidFill>
                <a:latin typeface="Aptos"/>
              </a:rPr>
              <a:t>Estimated occupancy becomes an input for decisions about selected equipment.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315200" cy="200055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4DDBEB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4DDBEB"/>
                </a:solidFill>
                <a:latin typeface="Aptos"/>
              </a:rPr>
              <a:t>3</a:t>
            </a:r>
            <a:r>
              <a:rPr sz="1000" b="1" dirty="0">
                <a:solidFill>
                  <a:srgbClr val="4DDBEB"/>
                </a:solidFill>
                <a:latin typeface="Aptos"/>
              </a:rPr>
              <a:t>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972800" cy="53035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What exactly is SpacePilot?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789920" cy="3931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SpacePilot is an automatic occupancy-controlled switch—not a Wi-Fi or smart-appliance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64792"/>
            <a:ext cx="640080" cy="36576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D2"/>
                </a:solidFill>
                <a:latin typeface="Aptos"/>
              </a:rPr>
              <a:t>SPACEPILOT  •  NEEV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6492240" cy="3474720"/>
          </a:xfrm>
          <a:prstGeom prst="roundRect">
            <a:avLst/>
          </a:prstGeom>
          <a:solidFill>
            <a:srgbClr val="12233D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468880"/>
            <a:ext cx="274320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DDBEB"/>
                </a:solidFill>
                <a:latin typeface="Aptos"/>
              </a:rPr>
              <a:t>SPACEPILOT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99232"/>
            <a:ext cx="539496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1. Detect a doorway crossing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66160"/>
            <a:ext cx="539496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2. Determine entry or exit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33087"/>
            <a:ext cx="539496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3. Update the estimated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700016"/>
            <a:ext cx="539496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4. Switch the connected 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148840"/>
            <a:ext cx="3611880" cy="347472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45552" y="2331720"/>
            <a:ext cx="45720" cy="3108960"/>
          </a:xfrm>
          <a:prstGeom prst="rect">
            <a:avLst/>
          </a:prstGeom>
          <a:solidFill>
            <a:srgbClr val="39C4B8"/>
          </a:solidFill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28432" y="2331720"/>
            <a:ext cx="310896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In one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2770632"/>
            <a:ext cx="3099816" cy="27432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DBED2"/>
                </a:solidFill>
                <a:latin typeface="Aptos"/>
              </a:rPr>
              <a:t>SpacePilot uses two doorway sensors and a small controller to estimate occupancy, then operates a relay or switching module to turn a connected light or fan ON/OFF locally.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98755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BE5B"/>
                </a:solidFill>
                <a:latin typeface="Aptos"/>
              </a:rPr>
              <a:t>No Wi-Fi required: first entry → ON; last exit → short delay → OFF.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315200" cy="200055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4DDBEB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4DDBEB"/>
                </a:solidFill>
                <a:latin typeface="Aptos"/>
              </a:rPr>
              <a:t>4</a:t>
            </a:r>
            <a:r>
              <a:rPr sz="1000" b="1" dirty="0">
                <a:solidFill>
                  <a:srgbClr val="4DDBEB"/>
                </a:solidFill>
                <a:latin typeface="Aptos"/>
              </a:rPr>
              <a:t> / 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972800" cy="53035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dirty="0">
                <a:solidFill>
                  <a:srgbClr val="F5F8FC"/>
                </a:solidFill>
                <a:latin typeface="Aptos"/>
              </a:rPr>
              <a:t>How can it tell whether someone entered or exited?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789920" cy="3931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Two sensors are placed a short distance apart across the doorway.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64792"/>
            <a:ext cx="640080" cy="36576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D2"/>
                </a:solidFill>
                <a:latin typeface="Aptos"/>
              </a:rPr>
              <a:t>SPACEPILOT  •  NEEV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623560" cy="3520440"/>
          </a:xfrm>
          <a:prstGeom prst="roundRect">
            <a:avLst/>
          </a:prstGeom>
          <a:solidFill>
            <a:srgbClr val="12233D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3716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DBED2"/>
                </a:solidFill>
                <a:latin typeface="Aptos"/>
              </a:rPr>
              <a:t>OUTSIDE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377440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DBED2"/>
                </a:solidFill>
                <a:latin typeface="Aptos"/>
              </a:rPr>
              <a:t>INSIDE THE ROOM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3794760"/>
            <a:ext cx="4480560" cy="0"/>
          </a:xfrm>
          <a:prstGeom prst="line">
            <a:avLst/>
          </a:prstGeom>
          <a:ln w="2540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31720" y="3200400"/>
            <a:ext cx="109728" cy="1143000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77639" y="3200400"/>
            <a:ext cx="109728" cy="1143000"/>
          </a:xfrm>
          <a:prstGeom prst="rect">
            <a:avLst/>
          </a:prstGeom>
          <a:solidFill>
            <a:srgbClr val="39C4B8"/>
          </a:solidFill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4480560"/>
            <a:ext cx="11887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DDBEB"/>
                </a:solidFill>
                <a:latin typeface="Aptos"/>
              </a:rPr>
              <a:t>Sensor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480560"/>
            <a:ext cx="11887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9C4B8"/>
                </a:solidFill>
                <a:latin typeface="Aptos"/>
              </a:rPr>
              <a:t>Sensor 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54480" y="2971800"/>
            <a:ext cx="3291840" cy="0"/>
          </a:xfrm>
          <a:prstGeom prst="line">
            <a:avLst/>
          </a:prstGeom>
          <a:ln w="25400">
            <a:solidFill>
              <a:srgbClr val="4DD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86000" y="2715768"/>
            <a:ext cx="21031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DDBEB"/>
                </a:solidFill>
                <a:latin typeface="Aptos"/>
              </a:rPr>
              <a:t>ENTRY: A → B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554480" y="5138928"/>
            <a:ext cx="3291840" cy="0"/>
          </a:xfrm>
          <a:prstGeom prst="line">
            <a:avLst/>
          </a:prstGeom>
          <a:ln w="25400">
            <a:solidFill>
              <a:srgbClr val="F2B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86000" y="5193792"/>
            <a:ext cx="21031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2BE5B"/>
                </a:solidFill>
                <a:latin typeface="Aptos"/>
              </a:rPr>
              <a:t>EXIT: B →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103120"/>
            <a:ext cx="4389120" cy="141732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22592" y="2286000"/>
            <a:ext cx="45720" cy="1051560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05472" y="2286000"/>
            <a:ext cx="388620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Entry sequence: A then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724912"/>
            <a:ext cx="3877056" cy="6858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The controller interprets the order as a person moving into the room.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730752"/>
            <a:ext cx="4389120" cy="141732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022592" y="3913632"/>
            <a:ext cx="45720" cy="1051560"/>
          </a:xfrm>
          <a:prstGeom prst="rect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05472" y="3913632"/>
            <a:ext cx="388620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Exit sequence: B then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4352544"/>
            <a:ext cx="3877056" cy="6858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The reverse order is interpreted as a person leaving.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394960"/>
            <a:ext cx="4251960" cy="56692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DBED2"/>
                </a:solidFill>
                <a:latin typeface="Aptos"/>
              </a:rPr>
              <a:t>The order of sensor events provides direction; one sensor alone cannot reliably tell which way a person crossed.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315200" cy="200055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4DDBEB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4DDBEB"/>
                </a:solidFill>
                <a:latin typeface="Aptos"/>
              </a:rPr>
              <a:t>5</a:t>
            </a:r>
            <a:r>
              <a:rPr sz="1000" b="1" dirty="0">
                <a:solidFill>
                  <a:srgbClr val="4DDBEB"/>
                </a:solidFill>
                <a:latin typeface="Aptos"/>
              </a:rPr>
              <a:t> / OCCUPANCY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972800" cy="53035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How the estimated people count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789920" cy="3931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The controller keeps a running count based on confirmed crossing sequences.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64792"/>
            <a:ext cx="640080" cy="36576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D2"/>
                </a:solidFill>
                <a:latin typeface="Aptos"/>
              </a:rPr>
              <a:t>SPACEPILOT  •  NEEV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1993392" cy="192024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724912"/>
            <a:ext cx="181051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BE5B"/>
                </a:solidFill>
                <a:latin typeface="Aptos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08960"/>
            <a:ext cx="1810512" cy="475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67328"/>
            <a:ext cx="1810512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ADBED2"/>
                </a:solidFill>
                <a:latin typeface="Aptos"/>
              </a:rPr>
              <a:t>EMPTY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3383280"/>
            <a:ext cx="256032" cy="0"/>
          </a:xfrm>
          <a:prstGeom prst="line">
            <a:avLst/>
          </a:prstGeom>
          <a:ln w="25400">
            <a:solidFill>
              <a:srgbClr val="4DD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90087" y="2468880"/>
            <a:ext cx="1993392" cy="192024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81527" y="2724912"/>
            <a:ext cx="181051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9C4B8"/>
                </a:solidFill>
                <a:latin typeface="Aptos"/>
              </a:rPr>
              <a:t>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7" y="3108960"/>
            <a:ext cx="1810512" cy="475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7" y="3767328"/>
            <a:ext cx="1810512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ADBED2"/>
                </a:solidFill>
                <a:latin typeface="Aptos"/>
              </a:rPr>
              <a:t>OCCUPIED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01768" y="3383280"/>
            <a:ext cx="256032" cy="0"/>
          </a:xfrm>
          <a:prstGeom prst="line">
            <a:avLst/>
          </a:prstGeom>
          <a:ln w="25400">
            <a:solidFill>
              <a:srgbClr val="4DD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21807" y="2468880"/>
            <a:ext cx="1993392" cy="192024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13247" y="2724912"/>
            <a:ext cx="181051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9C4B8"/>
                </a:solidFill>
                <a:latin typeface="Aptos"/>
              </a:rPr>
              <a:t>ENTRY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7" y="3108960"/>
            <a:ext cx="1810512" cy="475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5F8FC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7" y="3767328"/>
            <a:ext cx="1810512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ADBED2"/>
                </a:solidFill>
                <a:latin typeface="Aptos"/>
              </a:rPr>
              <a:t>OCCUPIED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33488" y="3383280"/>
            <a:ext cx="256031" cy="0"/>
          </a:xfrm>
          <a:prstGeom prst="line">
            <a:avLst/>
          </a:prstGeom>
          <a:ln w="25400">
            <a:solidFill>
              <a:srgbClr val="4DD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53527" y="2468880"/>
            <a:ext cx="1993392" cy="192024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44967" y="2724912"/>
            <a:ext cx="181051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9C4B8"/>
                </a:solidFill>
                <a:latin typeface="Aptos"/>
              </a:rPr>
              <a:t>EXIT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3108960"/>
            <a:ext cx="1810512" cy="475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7" y="3767328"/>
            <a:ext cx="1810512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ADBED2"/>
                </a:solidFill>
                <a:latin typeface="Aptos"/>
              </a:rPr>
              <a:t>OCCUPIED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65208" y="3383280"/>
            <a:ext cx="256032" cy="0"/>
          </a:xfrm>
          <a:prstGeom prst="line">
            <a:avLst/>
          </a:prstGeom>
          <a:ln w="25400">
            <a:solidFill>
              <a:srgbClr val="4DD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85248" y="2468880"/>
            <a:ext cx="1993392" cy="192024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76688" y="2724912"/>
            <a:ext cx="1810512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BE5B"/>
                </a:solidFill>
                <a:latin typeface="Aptos"/>
              </a:rPr>
              <a:t>EXIT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108960"/>
            <a:ext cx="1810512" cy="475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3767328"/>
            <a:ext cx="1810512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ADBED2"/>
                </a:solidFill>
                <a:latin typeface="Aptos"/>
              </a:rPr>
              <a:t>POTENTIALLY EMPTY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92040"/>
            <a:ext cx="4983480" cy="91440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87552" y="5074920"/>
            <a:ext cx="45720" cy="548640"/>
          </a:xfrm>
          <a:prstGeom prst="rect">
            <a:avLst/>
          </a:prstGeom>
          <a:solidFill>
            <a:srgbClr val="39C4B8"/>
          </a:solidFill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70432" y="5074920"/>
            <a:ext cx="448056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If count &gt;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5513831"/>
            <a:ext cx="4471416" cy="18287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DBED2"/>
                </a:solidFill>
                <a:latin typeface="Aptos"/>
              </a:rPr>
              <a:t>The room is treated as occupied.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892040"/>
            <a:ext cx="4983480" cy="91440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28231" y="5074920"/>
            <a:ext cx="45720" cy="548640"/>
          </a:xfrm>
          <a:prstGeom prst="rect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5074920"/>
            <a:ext cx="448056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If count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1112" y="5513831"/>
            <a:ext cx="4471416" cy="18287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DBED2"/>
                </a:solidFill>
                <a:latin typeface="Aptos"/>
              </a:rPr>
              <a:t>The system can wait briefly before applying empty-room rules.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CF5"/>
          </a:solidFill>
          <a:ln w="1397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87FF"/>
          </a:solidFill>
          <a:ln w="13970">
            <a:solidFill>
              <a:srgbClr val="19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41480" y="50292"/>
            <a:ext cx="350215" cy="6757416"/>
          </a:xfrm>
          <a:prstGeom prst="rect">
            <a:avLst/>
          </a:prstGeom>
          <a:solidFill>
            <a:srgbClr val="071833"/>
          </a:solidFill>
          <a:ln w="13970">
            <a:solidFill>
              <a:srgbClr val="071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9728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2600" b="1">
                <a:solidFill>
                  <a:srgbClr val="F2F8FF"/>
                </a:solidFill>
                <a:latin typeface="Aptos"/>
              </a:defRPr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Process in 5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832104"/>
            <a:ext cx="1143000" cy="41148"/>
          </a:xfrm>
          <a:prstGeom prst="rect">
            <a:avLst/>
          </a:prstGeom>
          <a:solidFill>
            <a:srgbClr val="00DCF5"/>
          </a:solidFill>
          <a:ln w="1397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352" y="914400"/>
            <a:ext cx="109728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0">
                <a:solidFill>
                  <a:srgbClr val="B1C7DE"/>
                </a:solidFill>
                <a:latin typeface="Aptos"/>
              </a:defRPr>
            </a:pPr>
            <a:r>
              <a:rPr sz="1200" b="0" i="0">
                <a:solidFill>
                  <a:srgbClr val="B1C7DE"/>
                </a:solidFill>
                <a:latin typeface="Aptos"/>
              </a:rPr>
              <a:t>From a person crossing the doorway to a connected appliance switching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691640"/>
            <a:ext cx="2157984" cy="3566160"/>
          </a:xfrm>
          <a:prstGeom prst="roundRect">
            <a:avLst/>
          </a:prstGeom>
          <a:solidFill>
            <a:srgbClr val="0B2A4C"/>
          </a:solidFill>
          <a:ln w="1397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298448" y="1965960"/>
            <a:ext cx="621792" cy="621792"/>
          </a:xfrm>
          <a:prstGeom prst="ellipse">
            <a:avLst/>
          </a:prstGeom>
          <a:solidFill>
            <a:srgbClr val="00DCF5"/>
          </a:solidFill>
          <a:ln w="1397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98448" y="2103120"/>
            <a:ext cx="62179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1">
                <a:solidFill>
                  <a:srgbClr val="040D20"/>
                </a:solidFill>
                <a:latin typeface="Aptos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40D2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743200"/>
            <a:ext cx="1865376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1">
                <a:solidFill>
                  <a:srgbClr val="00DCF5"/>
                </a:solidFill>
                <a:latin typeface="Aptos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DCF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DETECT CROSSING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74720"/>
            <a:ext cx="18288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0">
                <a:solidFill>
                  <a:srgbClr val="F2F8FF"/>
                </a:solidFill>
                <a:latin typeface="Aptos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person interrupts the first sensing beam.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88336" y="3474720"/>
            <a:ext cx="146304" cy="0"/>
          </a:xfrm>
          <a:prstGeom prst="line">
            <a:avLst/>
          </a:prstGeom>
          <a:ln w="2540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4640" y="1691640"/>
            <a:ext cx="2157984" cy="3566160"/>
          </a:xfrm>
          <a:prstGeom prst="roundRect">
            <a:avLst/>
          </a:prstGeom>
          <a:solidFill>
            <a:srgbClr val="0B2A4C"/>
          </a:solidFill>
          <a:ln w="13970">
            <a:solidFill>
              <a:srgbClr val="19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602736" y="1965960"/>
            <a:ext cx="621792" cy="621792"/>
          </a:xfrm>
          <a:prstGeom prst="ellipse">
            <a:avLst/>
          </a:prstGeom>
          <a:solidFill>
            <a:srgbClr val="1987FF"/>
          </a:solidFill>
          <a:ln w="13970">
            <a:solidFill>
              <a:srgbClr val="19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02736" y="2103120"/>
            <a:ext cx="62179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1">
                <a:solidFill>
                  <a:srgbClr val="040D20"/>
                </a:solidFill>
                <a:latin typeface="Aptos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40D2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2743200"/>
            <a:ext cx="1865376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1">
                <a:solidFill>
                  <a:srgbClr val="1987FF"/>
                </a:solidFill>
                <a:latin typeface="Aptos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98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IDENTIFY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3474720"/>
            <a:ext cx="18288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0">
                <a:solidFill>
                  <a:srgbClr val="F2F8FF"/>
                </a:solidFill>
                <a:latin typeface="Aptos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→ B = entry  |  B → A = exit.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92624" y="3474720"/>
            <a:ext cx="146304" cy="0"/>
          </a:xfrm>
          <a:prstGeom prst="line">
            <a:avLst/>
          </a:prstGeom>
          <a:ln w="2540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38928" y="1691640"/>
            <a:ext cx="2157984" cy="3566160"/>
          </a:xfrm>
          <a:prstGeom prst="roundRect">
            <a:avLst/>
          </a:prstGeom>
          <a:solidFill>
            <a:srgbClr val="0B2A4C"/>
          </a:solidFill>
          <a:ln w="13970">
            <a:solidFill>
              <a:srgbClr val="AA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907024" y="1965960"/>
            <a:ext cx="621792" cy="621792"/>
          </a:xfrm>
          <a:prstGeom prst="ellipse">
            <a:avLst/>
          </a:prstGeom>
          <a:solidFill>
            <a:srgbClr val="AA73FF"/>
          </a:solidFill>
          <a:ln w="13970">
            <a:solidFill>
              <a:srgbClr val="AA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07024" y="2103120"/>
            <a:ext cx="62179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1">
                <a:solidFill>
                  <a:srgbClr val="040D20"/>
                </a:solidFill>
                <a:latin typeface="Aptos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40D2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2743200"/>
            <a:ext cx="1865376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1">
                <a:solidFill>
                  <a:srgbClr val="AA73FF"/>
                </a:solidFill>
                <a:latin typeface="Aptos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AA73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UPDATE 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474720"/>
            <a:ext cx="18288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0">
                <a:solidFill>
                  <a:srgbClr val="F2F8FF"/>
                </a:solidFill>
                <a:latin typeface="Aptos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Entry +1  |  Exit −1  |  never below zero.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96912" y="3474720"/>
            <a:ext cx="146304" cy="0"/>
          </a:xfrm>
          <a:prstGeom prst="line">
            <a:avLst/>
          </a:prstGeom>
          <a:ln w="2540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43216" y="1691640"/>
            <a:ext cx="2157984" cy="3566160"/>
          </a:xfrm>
          <a:prstGeom prst="roundRect">
            <a:avLst/>
          </a:prstGeom>
          <a:solidFill>
            <a:srgbClr val="0B2A4C"/>
          </a:solidFill>
          <a:ln w="13970">
            <a:solidFill>
              <a:srgbClr val="20E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211312" y="1965960"/>
            <a:ext cx="621792" cy="621792"/>
          </a:xfrm>
          <a:prstGeom prst="ellipse">
            <a:avLst/>
          </a:prstGeom>
          <a:solidFill>
            <a:srgbClr val="20E6C6"/>
          </a:solidFill>
          <a:ln w="13970">
            <a:solidFill>
              <a:srgbClr val="20E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11312" y="2103120"/>
            <a:ext cx="62179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1">
                <a:solidFill>
                  <a:srgbClr val="040D20"/>
                </a:solidFill>
                <a:latin typeface="Aptos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40D2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743200"/>
            <a:ext cx="1865376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1">
                <a:solidFill>
                  <a:srgbClr val="20E6C6"/>
                </a:solidFill>
                <a:latin typeface="Aptos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0E6C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CHECK ROOM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3474720"/>
            <a:ext cx="18288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0">
                <a:solidFill>
                  <a:srgbClr val="F2F8FF"/>
                </a:solidFill>
                <a:latin typeface="Aptos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Count above zero = occupied; zero = potentially empty.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01200" y="3474720"/>
            <a:ext cx="146304" cy="0"/>
          </a:xfrm>
          <a:prstGeom prst="line">
            <a:avLst/>
          </a:prstGeom>
          <a:ln w="25400">
            <a:solidFill>
              <a:srgbClr val="00D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747504" y="1691640"/>
            <a:ext cx="2157984" cy="3566160"/>
          </a:xfrm>
          <a:prstGeom prst="roundRect">
            <a:avLst/>
          </a:prstGeom>
          <a:solidFill>
            <a:srgbClr val="0B2A4C"/>
          </a:solidFill>
          <a:ln w="13970">
            <a:solidFill>
              <a:srgbClr val="3CE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0515600" y="1965960"/>
            <a:ext cx="621792" cy="621792"/>
          </a:xfrm>
          <a:prstGeom prst="ellipse">
            <a:avLst/>
          </a:prstGeom>
          <a:solidFill>
            <a:srgbClr val="3CE8A9"/>
          </a:solidFill>
          <a:ln w="13970">
            <a:solidFill>
              <a:srgbClr val="3CE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515600" y="2103120"/>
            <a:ext cx="621792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1">
                <a:solidFill>
                  <a:srgbClr val="040D20"/>
                </a:solidFill>
                <a:latin typeface="Aptos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40D2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2743200"/>
            <a:ext cx="1865376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1">
                <a:solidFill>
                  <a:srgbClr val="3CE8A9"/>
                </a:solidFill>
                <a:latin typeface="Aptos"/>
              </a:defRPr>
            </a:pPr>
            <a:r>
              <a:rPr sz="1300" b="1" i="0">
                <a:solidFill>
                  <a:srgbClr val="3CE8A9"/>
                </a:solidFill>
                <a:latin typeface="Aptos"/>
              </a:rPr>
              <a:t>SWITCH THE 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474720"/>
            <a:ext cx="18288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0">
                <a:solidFill>
                  <a:srgbClr val="F2F8FF"/>
                </a:solidFill>
                <a:latin typeface="Aptos"/>
              </a:defRPr>
            </a:pPr>
            <a:r>
              <a:rPr sz="1300" b="0" i="0">
                <a:solidFill>
                  <a:srgbClr val="F2F8FF"/>
                </a:solidFill>
                <a:latin typeface="Aptos"/>
              </a:rPr>
              <a:t>Count above zero = ON. Count at zero = wait briefly, then OFF.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486400"/>
            <a:ext cx="10607040" cy="502920"/>
          </a:xfrm>
          <a:prstGeom prst="roundRect">
            <a:avLst/>
          </a:prstGeom>
          <a:solidFill>
            <a:srgbClr val="083049"/>
          </a:solidFill>
          <a:ln w="1397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0120" y="5577840"/>
            <a:ext cx="10241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1">
                <a:solidFill>
                  <a:srgbClr val="F2F8FF"/>
                </a:solidFill>
                <a:latin typeface="Aptos"/>
              </a:defRPr>
            </a:pPr>
            <a:r>
              <a:rPr sz="1300" b="1" i="0">
                <a:solidFill>
                  <a:srgbClr val="F2F8FF"/>
                </a:solidFill>
                <a:latin typeface="Aptos"/>
              </a:rPr>
              <a:t>Key logic: sensor order determines direction; the estimated count controls the local switch.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3152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07 / WHAT IT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972800" cy="53035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Estimated occupancy directly controls a connected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789920" cy="3931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A local controller and switching module can operate a compatible light or fan without Wi-Fi.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64792"/>
            <a:ext cx="640080" cy="36576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D2"/>
                </a:solidFill>
                <a:latin typeface="Aptos"/>
              </a:rPr>
              <a:t>SPACEPILOT  •  NEEV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3429000" cy="205740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87552" y="2331720"/>
            <a:ext cx="45720" cy="1691640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2331720"/>
            <a:ext cx="292608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Occupancy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770632"/>
            <a:ext cx="2916936" cy="1325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ED2"/>
                </a:solidFill>
                <a:latin typeface="Aptos"/>
              </a:rPr>
              <a:t>EMPTY or OCCUPIED, based on the estimated count and the configured OFF delay.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05740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53712" y="2331720"/>
            <a:ext cx="45720" cy="1691640"/>
          </a:xfrm>
          <a:prstGeom prst="rect">
            <a:avLst/>
          </a:prstGeom>
          <a:solidFill>
            <a:srgbClr val="39C4B8"/>
          </a:solidFill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31720"/>
            <a:ext cx="292608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Control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770632"/>
            <a:ext cx="2916936" cy="1325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ED2"/>
                </a:solidFill>
                <a:latin typeface="Aptos"/>
              </a:rPr>
              <a:t>Count above zero: switch ON. Count returns to zero: wait briefly, then switch 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148840"/>
            <a:ext cx="3429000" cy="205740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9871" y="2331720"/>
            <a:ext cx="45720" cy="1691640"/>
          </a:xfrm>
          <a:prstGeom prst="rect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2331720"/>
            <a:ext cx="292608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User 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770632"/>
            <a:ext cx="2916936" cy="1325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ED2"/>
                </a:solidFill>
                <a:latin typeface="Aptos"/>
              </a:rPr>
              <a:t>A manual override can let an authorised person keep the load ON or OFF when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2743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OPTIONAL SAFEGUARDS / FUTURE OPTIONS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19472"/>
            <a:ext cx="10424160" cy="12344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ADBED2"/>
                </a:solidFill>
                <a:latin typeface="Aptos"/>
              </a:rPr>
              <a:t>•  Short delay before switching OFF
•  Manual override switch
•  Status indicator
•  Optional presence verification if testing shows it is needed
•  Wi-Fi / multi-room reporting is not required for the first version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3152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06 / WHAT WE WOULD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972800" cy="53035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The main parts of the first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789920" cy="3931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A low-voltage demonstration proves the sensing, counting and automatic switching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64792"/>
            <a:ext cx="640080" cy="36576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D2"/>
                </a:solidFill>
                <a:latin typeface="Aptos"/>
              </a:rPr>
              <a:t>SPACEPILOT  •  NEEV PROJECT</a:t>
            </a:r>
          </a:p>
        </p:txBody>
      </p:sp>
      <p:sp>
        <p:nvSpPr>
          <p:cNvPr id="8" name="Oval 7"/>
          <p:cNvSpPr/>
          <p:nvPr/>
        </p:nvSpPr>
        <p:spPr>
          <a:xfrm>
            <a:off x="1490472" y="2359152"/>
            <a:ext cx="548640" cy="548640"/>
          </a:xfrm>
          <a:prstGeom prst="ellipse">
            <a:avLst/>
          </a:prstGeom>
          <a:solidFill>
            <a:srgbClr val="192D48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0472" y="251460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4DDBE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201168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Doorway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2011680" cy="8686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Detect the order of crossings.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2633472"/>
            <a:ext cx="640080" cy="0"/>
          </a:xfrm>
          <a:prstGeom prst="line">
            <a:avLst/>
          </a:prstGeom>
          <a:ln w="2540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343400" y="2359152"/>
            <a:ext cx="548640" cy="548640"/>
          </a:xfrm>
          <a:prstGeom prst="ellipse">
            <a:avLst/>
          </a:prstGeom>
          <a:solidFill>
            <a:srgbClr val="192D48"/>
          </a:solidFill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251460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9C4B8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127248"/>
            <a:ext cx="201168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Microcontroller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566160"/>
            <a:ext cx="2011680" cy="8686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Processes events and updates the count.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87568" y="2633472"/>
            <a:ext cx="640080" cy="0"/>
          </a:xfrm>
          <a:prstGeom prst="line">
            <a:avLst/>
          </a:prstGeom>
          <a:ln w="2540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196328" y="2359152"/>
            <a:ext cx="548640" cy="548640"/>
          </a:xfrm>
          <a:prstGeom prst="ellipse">
            <a:avLst/>
          </a:prstGeom>
          <a:solidFill>
            <a:srgbClr val="192D48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96328" y="251460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2BE5B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127248"/>
            <a:ext cx="201168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Relay / switch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566160"/>
            <a:ext cx="2011680" cy="8686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Switches the connected demonstration load ON or OFF.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40496" y="2633472"/>
            <a:ext cx="640080" cy="0"/>
          </a:xfrm>
          <a:prstGeom prst="line">
            <a:avLst/>
          </a:prstGeom>
          <a:ln w="2540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049255" y="2359152"/>
            <a:ext cx="548640" cy="548640"/>
          </a:xfrm>
          <a:prstGeom prst="ellipse">
            <a:avLst/>
          </a:prstGeom>
          <a:solidFill>
            <a:srgbClr val="192D48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49255" y="251460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4DDBEB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127248"/>
            <a:ext cx="201168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Demo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3566160"/>
            <a:ext cx="2011680" cy="8686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A small low-voltage lamp or 5V fan demonstrates the switch.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46320"/>
            <a:ext cx="10149840" cy="82296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78992" y="5029200"/>
            <a:ext cx="45720" cy="457200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61872" y="5029200"/>
            <a:ext cx="9646919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First 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5468112"/>
            <a:ext cx="9637776" cy="9143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ED2"/>
                </a:solidFill>
                <a:latin typeface="Aptos"/>
              </a:rPr>
              <a:t>No Wi-Fi, app or cloud dashboard is required for the first version.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3152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08 / WHO MIGHT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972800" cy="53035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Start with places that manage many shared rooms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789920" cy="3931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The first target customer should be narrow enough for us to interview and test with.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64792"/>
            <a:ext cx="640080" cy="36576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D2"/>
                </a:solidFill>
                <a:latin typeface="Aptos"/>
              </a:rPr>
              <a:t>SPACEPILOT  •  NEEV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3429000" cy="224028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87552" y="2331720"/>
            <a:ext cx="45720" cy="1874520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2331720"/>
            <a:ext cx="292608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Schools &amp; coaching centres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770632"/>
            <a:ext cx="2916936" cy="1508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DBED2"/>
                </a:solidFill>
                <a:latin typeface="Aptos"/>
              </a:rPr>
              <a:t>Multiple classrooms, repeated schedules and a clear person responsible for room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24028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53712" y="2331720"/>
            <a:ext cx="45720" cy="1874520"/>
          </a:xfrm>
          <a:prstGeom prst="rect">
            <a:avLst/>
          </a:prstGeom>
          <a:solidFill>
            <a:srgbClr val="39C4B8"/>
          </a:solidFill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31720"/>
            <a:ext cx="292608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Offices &amp; meeting rooms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770632"/>
            <a:ext cx="2916936" cy="1508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DBED2"/>
                </a:solidFill>
                <a:latin typeface="Aptos"/>
              </a:rPr>
              <a:t>Spaces that switch between occupied meetings and empty periods.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148840"/>
            <a:ext cx="3429000" cy="224028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9871" y="2331720"/>
            <a:ext cx="45720" cy="1874520"/>
          </a:xfrm>
          <a:prstGeom prst="rect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2331720"/>
            <a:ext cx="292608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Hostels &amp; shared facilities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770632"/>
            <a:ext cx="2916936" cy="1508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DBED2"/>
                </a:solidFill>
                <a:latin typeface="Aptos"/>
              </a:rPr>
              <a:t>Common spaces whose usage changes throughout the 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92040"/>
            <a:ext cx="29260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FIRST CUSTOMER 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57800"/>
            <a:ext cx="987552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5F8FC"/>
                </a:solidFill>
                <a:latin typeface="Aptos"/>
              </a:rPr>
              <a:t>A facility with several rooms, recurring occupancy patterns and someone who can approve a small pilot.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315200" cy="219456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09 / BUSINESS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972800" cy="53035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A product that could scale room by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789920" cy="3931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ED2"/>
                </a:solidFill>
                <a:latin typeface="Aptos"/>
              </a:rPr>
              <a:t>Begin with one useful unit, prove it, then expand only if customers see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64792"/>
            <a:ext cx="640080" cy="36576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DBED2"/>
                </a:solidFill>
                <a:latin typeface="Aptos"/>
              </a:rPr>
              <a:t>SPACEPILOT  •  NEEV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3429000" cy="214884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87552" y="2331720"/>
            <a:ext cx="45720" cy="1783080"/>
          </a:xfrm>
          <a:prstGeom prst="rect">
            <a:avLst/>
          </a:prstGeom>
          <a:solidFill>
            <a:srgbClr val="4DDBEB"/>
          </a:solidFill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2331720"/>
            <a:ext cx="292608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Hardware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770632"/>
            <a:ext cx="2916936" cy="1417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DBED2"/>
                </a:solidFill>
                <a:latin typeface="Aptos"/>
              </a:rPr>
              <a:t>A room-level controller with doorway sensors and a compatible control 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14884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53712" y="2331720"/>
            <a:ext cx="45720" cy="1783080"/>
          </a:xfrm>
          <a:prstGeom prst="rect">
            <a:avLst/>
          </a:prstGeom>
          <a:solidFill>
            <a:srgbClr val="39C4B8"/>
          </a:solidFill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31720"/>
            <a:ext cx="292608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Installation &amp;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770632"/>
            <a:ext cx="2916936" cy="1417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DBED2"/>
                </a:solidFill>
                <a:latin typeface="Aptos"/>
              </a:rPr>
              <a:t>Configure the unit and test it in the customer's actual room.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148840"/>
            <a:ext cx="3429000" cy="2148840"/>
          </a:xfrm>
          <a:prstGeom prst="roundRect">
            <a:avLst/>
          </a:prstGeom>
          <a:solidFill>
            <a:srgbClr val="192D48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9871" y="2331720"/>
            <a:ext cx="45720" cy="1783080"/>
          </a:xfrm>
          <a:prstGeom prst="rect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2331720"/>
            <a:ext cx="292608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Future multi-room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770632"/>
            <a:ext cx="2916936" cy="1417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DBED2"/>
                </a:solidFill>
                <a:latin typeface="Aptos"/>
              </a:rPr>
              <a:t>Optional reporting, monitoring and maintenance if customers need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00600"/>
            <a:ext cx="20116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A REALISTIC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93792"/>
            <a:ext cx="1014984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C"/>
                </a:solidFill>
                <a:latin typeface="Aptos"/>
              </a:rPr>
              <a:t>Interview → build a low-voltage demo → test accuracy → run a pilot → decide whether to scale.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CF5"/>
          </a:solidFill>
          <a:ln w="1397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1987FF"/>
          </a:solidFill>
          <a:ln w="13970">
            <a:solidFill>
              <a:srgbClr val="19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41480" y="50292"/>
            <a:ext cx="350215" cy="6757416"/>
          </a:xfrm>
          <a:prstGeom prst="rect">
            <a:avLst/>
          </a:prstGeom>
          <a:solidFill>
            <a:srgbClr val="071833"/>
          </a:solidFill>
          <a:ln w="13970">
            <a:solidFill>
              <a:srgbClr val="071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9728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2600" b="1">
                <a:solidFill>
                  <a:srgbClr val="F2F8FF"/>
                </a:solidFill>
                <a:latin typeface="Aptos"/>
              </a:defRPr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Applications &amp; Key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832104"/>
            <a:ext cx="1143000" cy="41148"/>
          </a:xfrm>
          <a:prstGeom prst="rect">
            <a:avLst/>
          </a:prstGeom>
          <a:solidFill>
            <a:srgbClr val="00DCF5"/>
          </a:solidFill>
          <a:ln w="1397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352" y="914400"/>
            <a:ext cx="109728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0">
                <a:solidFill>
                  <a:srgbClr val="B1C7DE"/>
                </a:solidFill>
                <a:latin typeface="Aptos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1C7D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Designed for shared spaces where compatible equipment is often left running unnecessarily.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5212080" cy="4553712"/>
          </a:xfrm>
          <a:prstGeom prst="roundRect">
            <a:avLst/>
          </a:prstGeom>
          <a:solidFill>
            <a:srgbClr val="09203F"/>
          </a:solidFill>
          <a:ln w="13970">
            <a:solidFill>
              <a:srgbClr val="19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1755648"/>
            <a:ext cx="466344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500" b="1">
                <a:solidFill>
                  <a:srgbClr val="00DCF5"/>
                </a:solidFill>
                <a:latin typeface="Aptos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DCF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WHO COULD USE SPACEPILOT?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267712"/>
            <a:ext cx="420624" cy="420624"/>
          </a:xfrm>
          <a:prstGeom prst="ellipse">
            <a:avLst/>
          </a:prstGeom>
          <a:solidFill>
            <a:srgbClr val="1987FF"/>
          </a:solidFill>
          <a:ln w="13970">
            <a:solidFill>
              <a:srgbClr val="19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6112" y="2331720"/>
            <a:ext cx="420624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000" b="1">
                <a:solidFill>
                  <a:srgbClr val="F2F8FF"/>
                </a:solidFill>
                <a:latin typeface="Aptos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67712"/>
            <a:ext cx="3840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400" b="1">
                <a:solidFill>
                  <a:srgbClr val="F2F8FF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Schools &amp; colleges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578608"/>
            <a:ext cx="388620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100" b="0">
                <a:solidFill>
                  <a:srgbClr val="B1C7DE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B1C7D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Classrooms, labs and teaching rooms.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072384"/>
            <a:ext cx="420624" cy="420624"/>
          </a:xfrm>
          <a:prstGeom prst="ellipse">
            <a:avLst/>
          </a:prstGeom>
          <a:solidFill>
            <a:srgbClr val="1987FF"/>
          </a:solidFill>
          <a:ln w="13970">
            <a:solidFill>
              <a:srgbClr val="19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6112" y="3136391"/>
            <a:ext cx="420624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000" b="1">
                <a:solidFill>
                  <a:srgbClr val="F2F8FF"/>
                </a:solidFill>
                <a:latin typeface="Aptos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072384"/>
            <a:ext cx="3840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400" b="1">
                <a:solidFill>
                  <a:srgbClr val="F2F8FF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Coaching centres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383279"/>
            <a:ext cx="388620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100" b="0">
                <a:solidFill>
                  <a:srgbClr val="B1C7DE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B1C7D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Between-class rooms and study areas.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877056"/>
            <a:ext cx="420624" cy="420624"/>
          </a:xfrm>
          <a:prstGeom prst="ellipse">
            <a:avLst/>
          </a:prstGeom>
          <a:solidFill>
            <a:srgbClr val="1987FF"/>
          </a:solidFill>
          <a:ln w="13970">
            <a:solidFill>
              <a:srgbClr val="19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6112" y="3941064"/>
            <a:ext cx="420624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000" b="1">
                <a:solidFill>
                  <a:srgbClr val="F2F8FF"/>
                </a:solidFill>
                <a:latin typeface="Aptos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877056"/>
            <a:ext cx="3840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400" b="1">
                <a:solidFill>
                  <a:srgbClr val="F2F8FF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Offices &amp; meeting rooms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187952"/>
            <a:ext cx="388620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100" b="0">
                <a:solidFill>
                  <a:srgbClr val="B1C7DE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B1C7D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Shared rooms used throughout the day.</a:t>
            </a:r>
          </a:p>
        </p:txBody>
      </p:sp>
      <p:sp>
        <p:nvSpPr>
          <p:cNvPr id="23" name="Oval 22"/>
          <p:cNvSpPr/>
          <p:nvPr/>
        </p:nvSpPr>
        <p:spPr>
          <a:xfrm>
            <a:off x="896112" y="4681728"/>
            <a:ext cx="420624" cy="420624"/>
          </a:xfrm>
          <a:prstGeom prst="ellipse">
            <a:avLst/>
          </a:prstGeom>
          <a:solidFill>
            <a:srgbClr val="1987FF"/>
          </a:solidFill>
          <a:ln w="13970">
            <a:solidFill>
              <a:srgbClr val="19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6112" y="4745736"/>
            <a:ext cx="420624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000" b="1">
                <a:solidFill>
                  <a:srgbClr val="F2F8FF"/>
                </a:solidFill>
                <a:latin typeface="Aptos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681728"/>
            <a:ext cx="3840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400" b="1">
                <a:solidFill>
                  <a:srgbClr val="F2F8FF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Libraries &amp; study rooms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992624"/>
            <a:ext cx="388620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100" b="0">
                <a:solidFill>
                  <a:srgbClr val="B1C7DE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B1C7D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Common spaces with lights and fans.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1481328"/>
            <a:ext cx="5394960" cy="4553712"/>
          </a:xfrm>
          <a:prstGeom prst="roundRect">
            <a:avLst/>
          </a:prstGeom>
          <a:solidFill>
            <a:srgbClr val="0B2A4C"/>
          </a:solidFill>
          <a:ln w="1397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1755648"/>
            <a:ext cx="475488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500" b="1">
                <a:solidFill>
                  <a:srgbClr val="00DCF5"/>
                </a:solidFill>
                <a:latin typeface="Aptos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DCF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KEY BENEFITS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2267712"/>
            <a:ext cx="201168" cy="201168"/>
          </a:xfrm>
          <a:prstGeom prst="ellipse">
            <a:avLst/>
          </a:prstGeom>
          <a:solidFill>
            <a:srgbClr val="3CE8A9"/>
          </a:solidFill>
          <a:ln w="13970">
            <a:solidFill>
              <a:srgbClr val="3CE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84848" y="2249424"/>
            <a:ext cx="41148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1">
                <a:solidFill>
                  <a:srgbClr val="3CE8A9"/>
                </a:solidFill>
                <a:latin typeface="Apto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CE8A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ENERGY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523744"/>
            <a:ext cx="416052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100" b="0">
                <a:solidFill>
                  <a:srgbClr val="F2F8FF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Can reduce avoidable appliance runtime.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2935224"/>
            <a:ext cx="201168" cy="201168"/>
          </a:xfrm>
          <a:prstGeom prst="ellipse">
            <a:avLst/>
          </a:prstGeom>
          <a:solidFill>
            <a:srgbClr val="00DCF5"/>
          </a:solidFill>
          <a:ln w="13970"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84848" y="2916936"/>
            <a:ext cx="41148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1">
                <a:solidFill>
                  <a:srgbClr val="00DCF5"/>
                </a:solidFill>
                <a:latin typeface="Apto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DCF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AUTOMATIC OPERATION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3191256"/>
            <a:ext cx="416052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100" b="0">
                <a:solidFill>
                  <a:srgbClr val="F2F8FF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Less reliance on manual switching.</a:t>
            </a:r>
          </a:p>
        </p:txBody>
      </p:sp>
      <p:sp>
        <p:nvSpPr>
          <p:cNvPr id="35" name="Oval 34"/>
          <p:cNvSpPr/>
          <p:nvPr/>
        </p:nvSpPr>
        <p:spPr>
          <a:xfrm>
            <a:off x="6419088" y="3602736"/>
            <a:ext cx="201168" cy="201168"/>
          </a:xfrm>
          <a:prstGeom prst="ellipse">
            <a:avLst/>
          </a:prstGeom>
          <a:solidFill>
            <a:srgbClr val="1987FF"/>
          </a:solidFill>
          <a:ln w="13970">
            <a:solidFill>
              <a:srgbClr val="19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84848" y="3584448"/>
            <a:ext cx="41148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1">
                <a:solidFill>
                  <a:srgbClr val="1987FF"/>
                </a:solidFill>
                <a:latin typeface="Apto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987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OCCUPANCY ESTIMATE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3858768"/>
            <a:ext cx="416052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100" b="0">
                <a:solidFill>
                  <a:srgbClr val="F2F8FF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Provides a running estimate, not a guaranteed count.</a:t>
            </a:r>
          </a:p>
        </p:txBody>
      </p:sp>
      <p:sp>
        <p:nvSpPr>
          <p:cNvPr id="38" name="Oval 37"/>
          <p:cNvSpPr/>
          <p:nvPr/>
        </p:nvSpPr>
        <p:spPr>
          <a:xfrm>
            <a:off x="6419088" y="4270248"/>
            <a:ext cx="201168" cy="201168"/>
          </a:xfrm>
          <a:prstGeom prst="ellipse">
            <a:avLst/>
          </a:prstGeom>
          <a:solidFill>
            <a:srgbClr val="AA73FF"/>
          </a:solidFill>
          <a:ln w="13970">
            <a:solidFill>
              <a:srgbClr val="AA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84848" y="4251960"/>
            <a:ext cx="41148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1">
                <a:solidFill>
                  <a:srgbClr val="AA73FF"/>
                </a:solidFill>
                <a:latin typeface="Apto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AA73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COMPACT INSTALLATION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4526280"/>
            <a:ext cx="416052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100" b="0">
                <a:solidFill>
                  <a:srgbClr val="F2F8FF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Both sensors designed for one enclosure.</a:t>
            </a:r>
          </a:p>
        </p:txBody>
      </p:sp>
      <p:sp>
        <p:nvSpPr>
          <p:cNvPr id="41" name="Oval 40"/>
          <p:cNvSpPr/>
          <p:nvPr/>
        </p:nvSpPr>
        <p:spPr>
          <a:xfrm>
            <a:off x="6419088" y="4937760"/>
            <a:ext cx="201168" cy="201168"/>
          </a:xfrm>
          <a:prstGeom prst="ellipse">
            <a:avLst/>
          </a:prstGeom>
          <a:solidFill>
            <a:srgbClr val="FFD35C"/>
          </a:solidFill>
          <a:ln w="13970">
            <a:solidFill>
              <a:srgbClr val="FFD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84848" y="4919472"/>
            <a:ext cx="41148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1">
                <a:solidFill>
                  <a:srgbClr val="FFD35C"/>
                </a:solidFill>
                <a:latin typeface="Aptos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D35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POTENTIAL COST REDUCTION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5193792"/>
            <a:ext cx="416052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100" b="0">
                <a:solidFill>
                  <a:srgbClr val="F2F8FF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2F8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Actual savings must be measured in testing.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658368"/>
            <a:ext cx="4572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DDBEB"/>
                </a:solidFill>
                <a:latin typeface="Aptos"/>
              </a:rPr>
              <a:t>SPACEPILOT  / 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7315200" cy="1325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5F8FC"/>
                </a:solidFill>
                <a:latin typeface="Aptos"/>
              </a:rPr>
              <a:t>A room should know
when it is in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926080"/>
            <a:ext cx="6400800" cy="8229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ADBED2"/>
                </a:solidFill>
                <a:latin typeface="Aptos"/>
              </a:rPr>
              <a:t>SpacePilot estimates occupancy from doorway crossings and locally switches a connected light or fan ON when someone is inside, then OFF after the room is empty.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4160520"/>
            <a:ext cx="6126480" cy="914400"/>
          </a:xfrm>
          <a:prstGeom prst="roundRect">
            <a:avLst/>
          </a:prstGeom>
          <a:solidFill>
            <a:srgbClr val="12233D"/>
          </a:solidFill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462272"/>
            <a:ext cx="55778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4DDBEB"/>
                </a:solidFill>
                <a:latin typeface="Aptos"/>
              </a:rPr>
              <a:t>SENSE  →  COUNT  →  SWITCH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1234440"/>
            <a:ext cx="2514600" cy="2514600"/>
          </a:xfrm>
          <a:prstGeom prst="ellipse">
            <a:avLst/>
          </a:prstGeom>
          <a:noFill/>
          <a:ln>
            <a:solidFill>
              <a:srgbClr val="31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32520" y="1737360"/>
            <a:ext cx="1508760" cy="1508760"/>
          </a:xfrm>
          <a:prstGeom prst="ellipse">
            <a:avLst/>
          </a:prstGeom>
          <a:noFill/>
          <a:ln>
            <a:solidFill>
              <a:srgbClr val="39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89720" y="2194560"/>
            <a:ext cx="594360" cy="594360"/>
          </a:xfrm>
          <a:prstGeom prst="ellipse">
            <a:avLst/>
          </a:prstGeom>
          <a:noFill/>
          <a:ln>
            <a:solidFill>
              <a:srgbClr val="4D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54312" y="2359152"/>
            <a:ext cx="256032" cy="256032"/>
          </a:xfrm>
          <a:prstGeom prst="ellipse">
            <a:avLst/>
          </a:prstGeom>
          <a:solidFill>
            <a:srgbClr val="F2BE5B"/>
          </a:solidFill>
          <a:ln>
            <a:solidFill>
              <a:srgbClr val="F2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V="1">
            <a:off x="8366760" y="1828800"/>
            <a:ext cx="2286000" cy="2331720"/>
          </a:xfrm>
          <a:prstGeom prst="line">
            <a:avLst/>
          </a:prstGeom>
          <a:ln w="19050">
            <a:solidFill>
              <a:srgbClr val="39C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828800"/>
            <a:ext cx="2057400" cy="2148839"/>
          </a:xfrm>
          <a:prstGeom prst="line">
            <a:avLst/>
          </a:prstGeom>
          <a:ln w="19050">
            <a:solidFill>
              <a:srgbClr val="31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" y="5897880"/>
            <a:ext cx="18288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925312"/>
            <a:ext cx="32004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DBED2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glitter pattern="hexago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1248</Words>
  <Application>Microsoft Office PowerPoint</Application>
  <PresentationFormat>Widescreen</PresentationFormat>
  <Paragraphs>195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Black</vt:lpstr>
      <vt:lpstr>Arial</vt:lpstr>
      <vt:lpstr>Calibri</vt:lpstr>
      <vt:lpstr>Gabriola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Utsav Jha</dc:creator>
  <cp:keywords/>
  <dc:description>generated using python-pptx</dc:description>
  <cp:lastModifiedBy>Utsav Jha</cp:lastModifiedBy>
  <cp:revision>7</cp:revision>
  <dcterms:created xsi:type="dcterms:W3CDTF">2013-01-27T09:14:16Z</dcterms:created>
  <dcterms:modified xsi:type="dcterms:W3CDTF">2026-10-21T19:30:56Z</dcterms:modified>
  <cp:category/>
</cp:coreProperties>
</file>